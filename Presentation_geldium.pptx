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105" d="100"/>
          <a:sy n="105" d="100"/>
        </p:scale>
        <p:origin x="80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0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income, credit score, repayment history, income-to-debt, due 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uses ML model to predict probability of delinquency and flags the customer at the level of risk(</a:t>
            </a:r>
            <a:r>
              <a:rPr lang="en-GB" sz="1600" dirty="0" err="1"/>
              <a:t>eg</a:t>
            </a:r>
            <a:r>
              <a:rPr lang="en-GB" sz="1600" dirty="0"/>
              <a:t>:- low, medium, 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Action: </a:t>
            </a:r>
            <a:r>
              <a:rPr lang="en-GB" sz="1600" dirty="0"/>
              <a:t>it sends reminders, personalization plans.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tracks outcome of each action and learns continuously to give refined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2FE9-F448-58F5-AF75-3E74EE58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flow of the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CF928-C875-235C-9313-E13BEBF1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045029"/>
            <a:ext cx="8368200" cy="3852000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dirty="0"/>
              <a:t>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 </a:t>
            </a:r>
          </a:p>
          <a:p>
            <a:pPr marL="114300" indent="0">
              <a:buNone/>
            </a:pPr>
            <a:r>
              <a:rPr lang="en-IN" dirty="0"/>
              <a:t>                                                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98AA13-9C49-5A91-1B7F-039A4CFDEE7D}"/>
              </a:ext>
            </a:extLst>
          </p:cNvPr>
          <p:cNvSpPr/>
          <p:nvPr/>
        </p:nvSpPr>
        <p:spPr>
          <a:xfrm>
            <a:off x="3942261" y="2099473"/>
            <a:ext cx="283029" cy="173848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3C001FB-865D-620A-F7EC-B22170534FC4}"/>
              </a:ext>
            </a:extLst>
          </p:cNvPr>
          <p:cNvSpPr/>
          <p:nvPr/>
        </p:nvSpPr>
        <p:spPr>
          <a:xfrm>
            <a:off x="3973016" y="3183784"/>
            <a:ext cx="239486" cy="198586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C9FCE20-5F04-A7AB-B16E-36E737D315BC}"/>
              </a:ext>
            </a:extLst>
          </p:cNvPr>
          <p:cNvSpPr/>
          <p:nvPr/>
        </p:nvSpPr>
        <p:spPr>
          <a:xfrm>
            <a:off x="3973016" y="3772060"/>
            <a:ext cx="239486" cy="198586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47D9ED0-C8CC-CF97-101E-771690226032}"/>
              </a:ext>
            </a:extLst>
          </p:cNvPr>
          <p:cNvSpPr/>
          <p:nvPr/>
        </p:nvSpPr>
        <p:spPr>
          <a:xfrm>
            <a:off x="3950168" y="1537012"/>
            <a:ext cx="275121" cy="174206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D67A771-8B2B-D376-721A-64A40A282D5F}"/>
              </a:ext>
            </a:extLst>
          </p:cNvPr>
          <p:cNvSpPr/>
          <p:nvPr/>
        </p:nvSpPr>
        <p:spPr>
          <a:xfrm>
            <a:off x="3985803" y="4372667"/>
            <a:ext cx="239486" cy="198586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826262E-F848-7EE2-349E-95292BCC2397}"/>
              </a:ext>
            </a:extLst>
          </p:cNvPr>
          <p:cNvSpPr/>
          <p:nvPr/>
        </p:nvSpPr>
        <p:spPr>
          <a:xfrm>
            <a:off x="3942262" y="2639215"/>
            <a:ext cx="283029" cy="198586"/>
          </a:xfrm>
          <a:prstGeom prst="down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3755D5-9CE2-3691-2612-5351421987D8}"/>
              </a:ext>
            </a:extLst>
          </p:cNvPr>
          <p:cNvSpPr/>
          <p:nvPr/>
        </p:nvSpPr>
        <p:spPr>
          <a:xfrm>
            <a:off x="3007727" y="1169026"/>
            <a:ext cx="2152102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DATA INTAKE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A6D478-3395-B9C9-3EF6-44FB99EFC2F2}"/>
              </a:ext>
            </a:extLst>
          </p:cNvPr>
          <p:cNvSpPr/>
          <p:nvPr/>
        </p:nvSpPr>
        <p:spPr>
          <a:xfrm>
            <a:off x="2989763" y="1731129"/>
            <a:ext cx="2170066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DATA PREPARATION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B3F9CA-C4BF-2FBE-C053-D51D45E29213}"/>
              </a:ext>
            </a:extLst>
          </p:cNvPr>
          <p:cNvSpPr/>
          <p:nvPr/>
        </p:nvSpPr>
        <p:spPr>
          <a:xfrm>
            <a:off x="2989763" y="2248797"/>
            <a:ext cx="2170066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RISK SCORING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5D2ECA-1C04-98F0-869E-3F364816A5A5}"/>
              </a:ext>
            </a:extLst>
          </p:cNvPr>
          <p:cNvSpPr/>
          <p:nvPr/>
        </p:nvSpPr>
        <p:spPr>
          <a:xfrm>
            <a:off x="3007727" y="2855335"/>
            <a:ext cx="2170066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DECISION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70137-5F55-DF39-0283-85492D0E6D40}"/>
              </a:ext>
            </a:extLst>
          </p:cNvPr>
          <p:cNvSpPr/>
          <p:nvPr/>
        </p:nvSpPr>
        <p:spPr>
          <a:xfrm>
            <a:off x="3007727" y="3427188"/>
            <a:ext cx="2170065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ACTION,TRIGERRING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9C9B8A-15EF-5BFF-4CCA-CEFC953053C2}"/>
              </a:ext>
            </a:extLst>
          </p:cNvPr>
          <p:cNvSpPr/>
          <p:nvPr/>
        </p:nvSpPr>
        <p:spPr>
          <a:xfrm>
            <a:off x="3020513" y="4039661"/>
            <a:ext cx="2170065" cy="303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OUTCOME LOGGING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010EDE-F5C1-94CD-8D94-987ACAFFC744}"/>
              </a:ext>
            </a:extLst>
          </p:cNvPr>
          <p:cNvSpPr/>
          <p:nvPr/>
        </p:nvSpPr>
        <p:spPr>
          <a:xfrm>
            <a:off x="2989763" y="4611514"/>
            <a:ext cx="2188029" cy="3054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LEARNING LOOP</a:t>
            </a:r>
          </a:p>
        </p:txBody>
      </p:sp>
    </p:spTree>
    <p:extLst>
      <p:ext uri="{BB962C8B-B14F-4D97-AF65-F5344CB8AC3E}">
        <p14:creationId xmlns:p14="http://schemas.microsoft.com/office/powerpoint/2010/main" val="140688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The parts of the system that will operate autonomously and that require human oversight.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Fully automated decisions: automated payment reminders, scheduled account status updates, chatbots for FAQs.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Human-reviewed actions:</a:t>
            </a:r>
            <a:r>
              <a:rPr lang="en-US" dirty="0"/>
              <a:t>Offer approval for credit restructuring, Complex negotiations and payment plans, High risk account management.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Safeguards built into the system to ensure it operates fairly and responsibly,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Fairness: To ensure fairness it detects bias and mitigates it regularly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Explainability: implement interpretable AI models to ensure explainability  and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Regulatory compliance: system ensures that it meet the standards of ECOA, GDPR, or local laws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Human-in-the-loop: human involvement for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Business KPIs:</a:t>
            </a:r>
            <a:r>
              <a:rPr lang="en-GB" sz="1600" dirty="0"/>
              <a:t> Reduced delinquency, improved recovery rates, operational cost savings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Customer experience:</a:t>
            </a:r>
            <a:r>
              <a:rPr lang="en-GB" sz="1600" dirty="0"/>
              <a:t> Improved customer trust, better customer experience, ethical and fair treatment, actionable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550" y="1248230"/>
            <a:ext cx="7790899" cy="3305980"/>
          </a:xfrm>
          <a:solidFill>
            <a:schemeClr val="lt1"/>
          </a:solidFill>
        </p:spPr>
        <p:txBody>
          <a:bodyPr/>
          <a:lstStyle/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028700" lvl="2" indent="0">
              <a:buNone/>
            </a:pPr>
            <a:r>
              <a:rPr lang="en-US" sz="5600" b="1" dirty="0"/>
              <a:t>    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509</Words>
  <Application>Microsoft Office PowerPoint</Application>
  <PresentationFormat>On-screen Show (16:9)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Work flow of the system</vt:lpstr>
      <vt:lpstr>Role of Agentic AI</vt:lpstr>
      <vt:lpstr>Responsible AI Guardrails</vt:lpstr>
      <vt:lpstr>Expected Business Impact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Ikshitha Pudi</cp:lastModifiedBy>
  <cp:revision>4</cp:revision>
  <dcterms:modified xsi:type="dcterms:W3CDTF">2025-11-21T05:25:39Z</dcterms:modified>
</cp:coreProperties>
</file>